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UNIVERSITY DIGITAL LIBRARY</a:t>
            </a:r>
            <a:br/>
            <a:r>
              <a:t>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ED7FF"/>
                </a:solidFill>
              </a:defRPr>
            </a:pPr>
            <a:r>
              <a:t>CIA-3 PROJECT DEVELOPMENT</a:t>
            </a:r>
            <a:br/>
            <a:r>
              <a:t>P05 • Education • 5th Semester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Node.js • Express.js • MongoDB • Mongoose • JWT • Bootstrap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CHRIST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6B78"/>
                </a:solidFill>
              </a:defRPr>
            </a:pPr>
            <a:r>
              <a:t>Purpose, scope and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3474720" cy="137160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389888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Centralized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755648"/>
            <a:ext cx="3145536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Catalog, circulation, reservations, fines, inventory, notifications and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474720" cy="137160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7992" y="1389888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Role-Based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755648"/>
            <a:ext cx="3145536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Member, Librarian and Admin workflows with server-side authorization.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474720" cy="137160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389888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Real Business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755648"/>
            <a:ext cx="3145536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Loan limits, due dates, fine caps, FIFO holds and inventory accountability.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Responsive landing page and authenticated dashboards.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REST API connects the frontend with MongoDB-backed services.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Designed for an academic-library CIA-3 demonstration.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Postman supports functional and negative API testing.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26B78"/>
                </a:solidFill>
              </a:defRPr>
            </a:pPr>
            <a:r>
              <a:t>P05 • University Digital Library Management System • CIA-3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6B78"/>
                </a:solidFill>
              </a:defRPr>
            </a:pPr>
            <a:r>
              <a:t>Challenges addressed by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Manual registers make circulation history slow to search.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Separate records can cause inconsistent book availability.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Fine calculations become difficult when handled manually.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Unavailable books need a fair, traceable reservation queue.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Staff actions require accountability and role restrictions.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Distributed information makes reporting difficult.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325880"/>
            <a:ext cx="4480560" cy="123444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68312" y="1435607"/>
            <a:ext cx="4151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System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8312" y="1801368"/>
            <a:ext cx="4151376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Centralize data and enforce library rules through the backend.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834640"/>
            <a:ext cx="4480560" cy="123444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68312" y="2944368"/>
            <a:ext cx="4151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Operational Benefit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8312" y="3310128"/>
            <a:ext cx="4151376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Maintain consistent transactions, inventory, holds and fine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4343400"/>
            <a:ext cx="4480560" cy="123444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68312" y="4453128"/>
            <a:ext cx="4151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Evaluation Benefit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4818888"/>
            <a:ext cx="4151376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Demonstrates authentication, business logic, security and auditability.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26B78"/>
                </a:solidFill>
              </a:defRPr>
            </a:pPr>
            <a:r>
              <a:t>P05 • University Digital Library Management System • CIA-3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</a:defRPr>
            </a:pPr>
            <a:r>
              <a:t>Objectives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6B78"/>
                </a:solidFill>
              </a:defRPr>
            </a:pPr>
            <a:r>
              <a:t>What the implementation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943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Model books, members and transactions in MongoDB.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Implement borrowing and return with due-date and fine logic.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Search by title, author, ISBN and category.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Provide inventory and operational reporting.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Enforce Member, Librarian and Admin permissions.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Maintain copy-level availability and inventory logs.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Support FIFO holds, fine payments and notifications.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1280160"/>
            <a:ext cx="4297680" cy="114300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59752" y="1389888"/>
            <a:ext cx="3968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In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2" y="1755648"/>
            <a:ext cx="3968496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Authentication • Catalog • Circulation • Holds • Fines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2697480"/>
            <a:ext cx="4297680" cy="114300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59752" y="2807208"/>
            <a:ext cx="3968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3172968"/>
            <a:ext cx="3968496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Inventory • Membership Plans • Notifications •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4114800"/>
            <a:ext cx="4297680" cy="114300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59752" y="4224528"/>
            <a:ext cx="3968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4590288"/>
            <a:ext cx="3968496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Success cases plus 401 / 403 / validation / 404 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26B78"/>
                </a:solidFill>
              </a:defRPr>
            </a:pPr>
            <a:r>
              <a:t>P05 • University Digital Library Management System • CIA-3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</a:defRPr>
            </a:pPr>
            <a:r>
              <a:t>User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6B78"/>
                </a:solidFill>
              </a:defRPr>
            </a:pPr>
            <a:r>
              <a:t>Role-based access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212080" cy="150876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38988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755648"/>
            <a:ext cx="4882896" cy="941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Search catalog, borrow, reserve, view history and fines.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5212080" cy="150876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38988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Librarian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755648"/>
            <a:ext cx="4882896" cy="941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Issue/return, manage holds, catalog, inventory, fines and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5212080" cy="150876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326440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630168"/>
            <a:ext cx="4882896" cy="941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Manage staff accounts, membership plans, institutional settings and oversight.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54680"/>
            <a:ext cx="5212080" cy="150876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326440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Student / Faculty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3630168"/>
            <a:ext cx="4882896" cy="941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Membership categories with configurable loan limits, duration and fine policy.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0252D"/>
                </a:solidFill>
              </a:defRPr>
            </a:pPr>
            <a:r>
              <a:t>• JWT identifies the authenticated user.</a:t>
            </a:r>
          </a:p>
          <a:p>
            <a:pPr>
              <a:spcAft>
                <a:spcPts val="800"/>
              </a:spcAft>
              <a:defRPr sz="1100">
                <a:solidFill>
                  <a:srgbClr val="20252D"/>
                </a:solidFill>
              </a:defRPr>
            </a:pPr>
            <a:r>
              <a:t>• RBAC middleware protects staff/admin APIs.</a:t>
            </a:r>
          </a:p>
          <a:p>
            <a:pPr>
              <a:spcAft>
                <a:spcPts val="800"/>
              </a:spcAft>
              <a:defRPr sz="1100">
                <a:solidFill>
                  <a:srgbClr val="20252D"/>
                </a:solidFill>
              </a:defRPr>
            </a:pPr>
            <a:r>
              <a:t>• Frontend navigation changes according to role.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26B78"/>
                </a:solidFill>
              </a:defRPr>
            </a:pPr>
            <a:r>
              <a:t>P05 • University Digital Library Management System • CIA-3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</a:defRPr>
            </a:pPr>
            <a:r>
              <a:t>Functional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6B78"/>
                </a:solidFill>
              </a:defRPr>
            </a:pPr>
            <a:r>
              <a:t>Integrated modules rather than isolated CRUD screens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29000" cy="1024128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344168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Authentication &amp;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709928"/>
            <a:ext cx="30998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Connected to the shared backend and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429000" cy="1024128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2" y="1344168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Book Catalog &amp;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1709928"/>
            <a:ext cx="30998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Connected to the shared backend and database.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34440"/>
            <a:ext cx="3429000" cy="1024128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94192" y="1344168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Book Issue / Return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1709928"/>
            <a:ext cx="30998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Connected to the shared backend and database.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560320"/>
            <a:ext cx="3429000" cy="1024128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2670048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Reservations / FIFO Holds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035808"/>
            <a:ext cx="30998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Connected to the shared backend and database.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2560320"/>
            <a:ext cx="3429000" cy="1024128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9432" y="2670048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Fine Calculation &amp; Payment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3035808"/>
            <a:ext cx="30998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Connected to the shared backend and database.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560320"/>
            <a:ext cx="3429000" cy="1024128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2670048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Membership Plans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035808"/>
            <a:ext cx="30998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Connected to the shared backend and database.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86200"/>
            <a:ext cx="3429000" cy="1024128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" y="3995928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Inventory &amp; Copy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4361688"/>
            <a:ext cx="30998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Connected to the shared backend and database.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886200"/>
            <a:ext cx="3429000" cy="1024128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9432" y="3995928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4361688"/>
            <a:ext cx="30998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Connected to the shared backend and database.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886200"/>
            <a:ext cx="3429000" cy="1024128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94192" y="3995928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Borrowing History &amp; 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361688"/>
            <a:ext cx="30998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Connected to the shared backend and database.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349240"/>
            <a:ext cx="11018520" cy="73152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1" y="5458968"/>
            <a:ext cx="10689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Integration Principle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5824727"/>
            <a:ext cx="1068933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One operation can affect transactions, inventory, fines, reservations, notifications and history.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26B78"/>
                </a:solidFill>
              </a:defRPr>
            </a:pPr>
            <a:r>
              <a:t>P05 • University Digital Library Management System • CIA-3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</a:defRPr>
            </a:pPr>
            <a:r>
              <a:t>Tools &amp;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6B78"/>
                </a:solidFill>
              </a:defRPr>
            </a:pPr>
            <a:r>
              <a:t>Technology stack from the detailed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120640" cy="91440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298448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664208"/>
            <a:ext cx="479145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Node.js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88720"/>
            <a:ext cx="5120640" cy="91440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298448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664208"/>
            <a:ext cx="479145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Express.js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31720"/>
            <a:ext cx="5120640" cy="91440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2441448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807208"/>
            <a:ext cx="479145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MongoDB + Mongoose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331720"/>
            <a:ext cx="5120640" cy="91440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2441448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807208"/>
            <a:ext cx="479145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JWT + bcryptjs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74720"/>
            <a:ext cx="5120640" cy="91440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" y="3584448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950208"/>
            <a:ext cx="479145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Joi / Express middleware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474720"/>
            <a:ext cx="5120640" cy="91440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3584448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3950208"/>
            <a:ext cx="479145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Helmet • CORS • Rate limiting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617720"/>
            <a:ext cx="5120640" cy="91440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" y="4727448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5093208"/>
            <a:ext cx="479145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HTML5 • Bootstrap 5 • CSS3 • JavaScript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17720"/>
            <a:ext cx="5120640" cy="91440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36792" y="4727448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5093208"/>
            <a:ext cx="479145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Postman + Node.js test/integration workflows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26B78"/>
                </a:solidFill>
              </a:defRPr>
            </a:pPr>
            <a:r>
              <a:t>P05 • University Digital Library Management System • CIA-3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6B78"/>
                </a:solidFill>
              </a:defRPr>
            </a:pPr>
            <a:r>
              <a:t>Layered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097280"/>
            <a:ext cx="10332720" cy="566928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207007"/>
            <a:ext cx="10003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572768"/>
            <a:ext cx="1000353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Landing, login, member, staff and admin interfaces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56231"/>
            <a:ext cx="10332720" cy="566928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965960"/>
            <a:ext cx="10003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API /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331720"/>
            <a:ext cx="1000353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Express routes for auth, books, transactions, holds, fines, inventory and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615184"/>
            <a:ext cx="10332720" cy="566928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724912"/>
            <a:ext cx="10003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Middleware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090672"/>
            <a:ext cx="1000353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JWT, RBAC, Joi validation, security and error handling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374135"/>
            <a:ext cx="10332720" cy="566928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3483863"/>
            <a:ext cx="10003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Controllers /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849623"/>
            <a:ext cx="1000353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Request coordination and library business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133087"/>
            <a:ext cx="10332720" cy="566928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4242816"/>
            <a:ext cx="10003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Data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608575"/>
            <a:ext cx="1000353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Mongoose schemas, references and indexes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892040"/>
            <a:ext cx="10332720" cy="566928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" y="5001768"/>
            <a:ext cx="10003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5367527"/>
            <a:ext cx="1000353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MongoDB operational records and audit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26B78"/>
                </a:solidFill>
              </a:defRPr>
            </a:pPr>
            <a:r>
              <a:t>P05 • University Digital Library Management System • CIA-3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</a:defRPr>
            </a:pPr>
            <a:r>
              <a:t>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6B78"/>
                </a:solidFill>
              </a:defRPr>
            </a:pPr>
            <a:r>
              <a:t>Ordered for the final project demonstration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325880"/>
            <a:ext cx="640080" cy="640080"/>
          </a:xfrm>
          <a:prstGeom prst="ellipse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213D"/>
                </a:solidFill>
              </a:defRPr>
            </a:pPr>
            <a:r>
              <a:t>Landing</a:t>
            </a:r>
          </a:p>
        </p:txBody>
      </p:sp>
      <p:sp>
        <p:nvSpPr>
          <p:cNvPr id="9" name="Oval 8"/>
          <p:cNvSpPr/>
          <p:nvPr/>
        </p:nvSpPr>
        <p:spPr>
          <a:xfrm>
            <a:off x="2240280" y="1325880"/>
            <a:ext cx="640080" cy="640080"/>
          </a:xfrm>
          <a:prstGeom prst="ellipse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40280" y="14630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488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213D"/>
                </a:solidFill>
              </a:defRPr>
            </a:pPr>
            <a:r>
              <a:t>Login</a:t>
            </a:r>
          </a:p>
        </p:txBody>
      </p:sp>
      <p:sp>
        <p:nvSpPr>
          <p:cNvPr id="12" name="Oval 11"/>
          <p:cNvSpPr/>
          <p:nvPr/>
        </p:nvSpPr>
        <p:spPr>
          <a:xfrm>
            <a:off x="3703320" y="1325880"/>
            <a:ext cx="640080" cy="640080"/>
          </a:xfrm>
          <a:prstGeom prst="ellipse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4630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1488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213D"/>
                </a:solidFill>
              </a:defRPr>
            </a:pPr>
            <a:r>
              <a:t>Catalog</a:t>
            </a:r>
          </a:p>
        </p:txBody>
      </p:sp>
      <p:sp>
        <p:nvSpPr>
          <p:cNvPr id="15" name="Oval 14"/>
          <p:cNvSpPr/>
          <p:nvPr/>
        </p:nvSpPr>
        <p:spPr>
          <a:xfrm>
            <a:off x="5166360" y="1325880"/>
            <a:ext cx="640080" cy="640080"/>
          </a:xfrm>
          <a:prstGeom prst="ellipse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66360" y="14630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1488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213D"/>
                </a:solidFill>
              </a:defRPr>
            </a:pPr>
            <a:r>
              <a:t>Borrow</a:t>
            </a:r>
          </a:p>
        </p:txBody>
      </p:sp>
      <p:sp>
        <p:nvSpPr>
          <p:cNvPr id="18" name="Oval 17"/>
          <p:cNvSpPr/>
          <p:nvPr/>
        </p:nvSpPr>
        <p:spPr>
          <a:xfrm>
            <a:off x="6629400" y="1325880"/>
            <a:ext cx="640080" cy="640080"/>
          </a:xfrm>
          <a:prstGeom prst="ellipse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14630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488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213D"/>
                </a:solidFill>
              </a:defRPr>
            </a:pPr>
            <a:r>
              <a:t>Return</a:t>
            </a:r>
          </a:p>
        </p:txBody>
      </p:sp>
      <p:sp>
        <p:nvSpPr>
          <p:cNvPr id="21" name="Oval 20"/>
          <p:cNvSpPr/>
          <p:nvPr/>
        </p:nvSpPr>
        <p:spPr>
          <a:xfrm>
            <a:off x="8092440" y="1325880"/>
            <a:ext cx="640080" cy="640080"/>
          </a:xfrm>
          <a:prstGeom prst="ellipse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92440" y="14630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1488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213D"/>
                </a:solidFill>
              </a:defRPr>
            </a:pPr>
            <a:r>
              <a:t>Hold</a:t>
            </a:r>
          </a:p>
        </p:txBody>
      </p:sp>
      <p:sp>
        <p:nvSpPr>
          <p:cNvPr id="24" name="Oval 23"/>
          <p:cNvSpPr/>
          <p:nvPr/>
        </p:nvSpPr>
        <p:spPr>
          <a:xfrm>
            <a:off x="9555480" y="1325880"/>
            <a:ext cx="640080" cy="640080"/>
          </a:xfrm>
          <a:prstGeom prst="ellipse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55480" y="14630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1488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213D"/>
                </a:solidFill>
              </a:defRPr>
            </a:pPr>
            <a:r>
              <a:t>Payment</a:t>
            </a:r>
          </a:p>
        </p:txBody>
      </p:sp>
      <p:sp>
        <p:nvSpPr>
          <p:cNvPr id="27" name="Oval 26"/>
          <p:cNvSpPr/>
          <p:nvPr/>
        </p:nvSpPr>
        <p:spPr>
          <a:xfrm>
            <a:off x="11018520" y="1325880"/>
            <a:ext cx="640080" cy="640080"/>
          </a:xfrm>
          <a:prstGeom prst="ellipse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018520" y="14630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21488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213D"/>
                </a:solidFill>
              </a:defRPr>
            </a:pPr>
            <a:r>
              <a:t>Reports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3154680"/>
            <a:ext cx="10332720" cy="141732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78992" y="3264408"/>
            <a:ext cx="10003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Key Principle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3630168"/>
            <a:ext cx="10003536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Every visible workflow has a backend state change. Issue affects transaction + availability; return can affect fine + holds; inventory actions create audit information.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892040"/>
            <a:ext cx="10332720" cy="82296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78992" y="5001768"/>
            <a:ext cx="10003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Demo Narrative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5367527"/>
            <a:ext cx="100035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Landing → Login → Member workflow → Staff/Admin workflow → Postman proof → Database explanation.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26B78"/>
                </a:solidFill>
              </a:defRPr>
            </a:pPr>
            <a:r>
              <a:t>P05 • University Digital Library Management System • CIA-3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</a:defRPr>
            </a:pPr>
            <a: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6B78"/>
                </a:solidFill>
              </a:defRPr>
            </a:pPr>
            <a:r>
              <a:t>MongoDB collections used by the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120640" cy="86868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252728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618488"/>
            <a:ext cx="4791455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Identity, password hash, role and member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5120640" cy="86868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252728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books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618488"/>
            <a:ext cx="4791455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Catalog metadata and copy availability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40280"/>
            <a:ext cx="5120640" cy="86868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2350008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715768"/>
            <a:ext cx="4791455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Issue/return lifecycle, dates, fine and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240280"/>
            <a:ext cx="5120640" cy="86868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2350008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holds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715768"/>
            <a:ext cx="4791455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Book/member reservation queue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37560"/>
            <a:ext cx="5120640" cy="86868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" y="3447288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finePayments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813048"/>
            <a:ext cx="4791455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Fine settlement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337560"/>
            <a:ext cx="5120640" cy="86868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3447288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notifications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3813048"/>
            <a:ext cx="4791455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Overdue, availability and hold alerts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34840"/>
            <a:ext cx="5120640" cy="86868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" y="4544568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inventoryLogs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4910327"/>
            <a:ext cx="4791455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Copy changes, reasons and responsible actor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434840"/>
            <a:ext cx="5120640" cy="86868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36792" y="4544568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membershipPlans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4910327"/>
            <a:ext cx="4791455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Loan limits, duration, overdue rate and fine cap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623560"/>
            <a:ext cx="10927080" cy="59436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1" y="5733288"/>
            <a:ext cx="10597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Key Relationships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" y="6099048"/>
            <a:ext cx="10597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users ↔ transactions ↔ books, with holds, payments, notifications and inventory logs linked to the relevant entities.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26B78"/>
                </a:solidFill>
              </a:defRPr>
            </a:pPr>
            <a:r>
              <a:t>P05 • University Digital Library Management System • CIA-3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</a:defRPr>
            </a:pPr>
            <a:r>
              <a:t>Borrowing, Return &amp; Fine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6B78"/>
                </a:solidFill>
              </a:defRPr>
            </a:pPr>
            <a:r>
              <a:t>Business rules that make the application realistic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3520440" cy="448056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298448"/>
            <a:ext cx="3191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Borrowing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664208"/>
            <a:ext cx="3191256" cy="3913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1. Authenticate member</a:t>
            </a:r>
            <a:br/>
            <a:r>
              <a:t>2. Check membership status</a:t>
            </a:r>
            <a:br/>
            <a:r>
              <a:t>3. Check active-loan limit</a:t>
            </a:r>
            <a:br/>
            <a:r>
              <a:t>4. Check available copy</a:t>
            </a:r>
            <a:br/>
            <a:r>
              <a:t>5. Calculate due date</a:t>
            </a:r>
            <a:br/>
            <a:r>
              <a:t>6. Create ACTIVE transaction</a:t>
            </a:r>
            <a:br/>
            <a:r>
              <a:t>7. Reduce availability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188720"/>
            <a:ext cx="3520440" cy="448056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7992" y="1298448"/>
            <a:ext cx="3191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664208"/>
            <a:ext cx="3191256" cy="3913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1. Select active transaction</a:t>
            </a:r>
            <a:br/>
            <a:r>
              <a:t>2. Compare dates</a:t>
            </a:r>
            <a:br/>
            <a:r>
              <a:t>3. Calculate overdue days</a:t>
            </a:r>
            <a:br/>
            <a:r>
              <a:t>4. Apply rate + cap</a:t>
            </a:r>
            <a:br/>
            <a:r>
              <a:t>5. Mark returned</a:t>
            </a:r>
            <a:br/>
            <a:r>
              <a:t>6. Restore availability</a:t>
            </a:r>
            <a:br/>
            <a:r>
              <a:t>7. Advance hold if applicable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520440" cy="448056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298448"/>
            <a:ext cx="3191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Reservation &amp; 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664208"/>
            <a:ext cx="3191256" cy="3913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Unavailable title → FIFO hold queue</a:t>
            </a:r>
            <a:br/>
            <a:br/>
            <a:r>
              <a:t>Fine is linked to the transaction</a:t>
            </a:r>
            <a:br/>
            <a:br/>
            <a:r>
              <a:t>Payment records settlement</a:t>
            </a:r>
            <a:br/>
            <a:br/>
            <a:r>
              <a:t>Authorized staff can process approved waivers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26B78"/>
                </a:solidFill>
              </a:defRPr>
            </a:pPr>
            <a:r>
              <a:t>P05 • University Digital Library Management System • CIA-3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</a:defRPr>
            </a:pPr>
            <a:r>
              <a:t>Security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6B78"/>
                </a:solidFill>
              </a:defRPr>
            </a:pPr>
            <a:r>
              <a:t>Controls enforced at the backend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bcryptjs password hashing.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JWT authentication for protected routes.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Role-based authorization for Member, Librarian and Admin.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Joi / Express validation before business logic.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Environment variables for database URI and JWT secret.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Helmet-style headers, CORS controls and rate limiting.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Centralized error handling for consistent JSON responses.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234440"/>
            <a:ext cx="4206240" cy="109728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51192" y="1344168"/>
            <a:ext cx="3877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401 Unauthorized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51192" y="1709928"/>
            <a:ext cx="3877055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No valid authentication token.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606040"/>
            <a:ext cx="4206240" cy="109728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51192" y="2715768"/>
            <a:ext cx="3877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403 Forbidden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1192" y="3081528"/>
            <a:ext cx="3877055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Authenticated user lacks the required role.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3977639"/>
            <a:ext cx="4206240" cy="109728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51192" y="4087368"/>
            <a:ext cx="3877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400 / 409 / 404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1192" y="4453127"/>
            <a:ext cx="3877055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Validation, business conflict or missing resource.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26B78"/>
                </a:solidFill>
              </a:defRPr>
            </a:pPr>
            <a:r>
              <a:t>P05 • University Digital Library Management System • CIA-3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</a:defRPr>
            </a:pPr>
            <a:r>
              <a:t>REST API &amp; Postman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6B78"/>
                </a:solidFill>
              </a:defRPr>
            </a:pPr>
            <a:r>
              <a:t>Backend evidence for the evaluator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303520" cy="105156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298448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664208"/>
            <a:ext cx="4974336" cy="484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POST /api/auth/register • POST /api/auth/login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5303520" cy="105156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2670048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Catalog / Circulation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3035808"/>
            <a:ext cx="4974336" cy="484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GET /api/books/search • POST /api/transactions/issue • PUT /api/transactions/:id/return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5303520" cy="105156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4041648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Holds / Fines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407408"/>
            <a:ext cx="4974336" cy="484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POST /api/holds • POST /api/fines/:transactionId/pay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5212080" cy="105156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29844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Success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664208"/>
            <a:ext cx="4882896" cy="484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Valid login, search, issue, return, hold, payment and reports.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560320"/>
            <a:ext cx="5212080" cy="105156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267004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Negative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035808"/>
            <a:ext cx="4882896" cy="484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Missing token, wrong role, invalid input, unavailable copy and invalid ID.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931920"/>
            <a:ext cx="5212080" cy="105156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404164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Why Postman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407408"/>
            <a:ext cx="4882896" cy="484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Backend can be verified independently of the browser.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26B78"/>
                </a:solidFill>
              </a:defRPr>
            </a:pPr>
            <a:r>
              <a:t>P05 • University Digital Library Management System • CIA-3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</a:defRPr>
            </a:pPr>
            <a:r>
              <a:t>Implementation Evidence — Landing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6B78"/>
                </a:solidFill>
              </a:defRPr>
            </a:pPr>
            <a:r>
              <a:t>First in the required screenshot sequence</a:t>
            </a:r>
          </a:p>
        </p:txBody>
      </p:sp>
      <p:pic>
        <p:nvPicPr>
          <p:cNvPr id="6" name="Picture 5" descr="Screenshot 2026-09-09 111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77"/>
            <a:ext cx="6629400" cy="4891965"/>
          </a:xfrm>
          <a:prstGeom prst="rect">
            <a:avLst/>
          </a:prstGeom>
        </p:spPr>
      </p:pic>
      <p:pic>
        <p:nvPicPr>
          <p:cNvPr id="7" name="Picture 6" descr="Screenshot 2026-09-09 111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310" y="1143000"/>
            <a:ext cx="3587459" cy="2331720"/>
          </a:xfrm>
          <a:prstGeom prst="rect">
            <a:avLst/>
          </a:prstGeom>
        </p:spPr>
      </p:pic>
      <p:pic>
        <p:nvPicPr>
          <p:cNvPr id="8" name="Picture 7" descr="Screenshot 2026-09-09 1111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7529" y="3703320"/>
            <a:ext cx="3513021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26B78"/>
                </a:solidFill>
              </a:defRPr>
            </a:pPr>
            <a:r>
              <a:t>P05 • University Digital Library Management System • CIA-3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</a:defRPr>
            </a:pPr>
            <a:r>
              <a:t>Implementation Evidence — Login &amp; Student Dashboard</a:t>
            </a:r>
          </a:p>
        </p:txBody>
      </p:sp>
      <p:pic>
        <p:nvPicPr>
          <p:cNvPr id="5" name="Picture 4" descr="Screenshot 2026-09-09 173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96607"/>
            <a:ext cx="5440680" cy="2567704"/>
          </a:xfrm>
          <a:prstGeom prst="rect">
            <a:avLst/>
          </a:prstGeom>
        </p:spPr>
      </p:pic>
      <p:pic>
        <p:nvPicPr>
          <p:cNvPr id="6" name="Picture 5" descr="Screenshot 2026-09-09 173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92618"/>
            <a:ext cx="5440680" cy="27756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26B78"/>
                </a:solidFill>
              </a:defRPr>
            </a:pPr>
            <a:r>
              <a:t>P05 • University Digital Library Management System • CIA-3                            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</a:defRPr>
            </a:pPr>
            <a:r>
              <a:t>Implementation Evidence — Student / Member Components</a:t>
            </a:r>
          </a:p>
        </p:txBody>
      </p:sp>
      <p:pic>
        <p:nvPicPr>
          <p:cNvPr id="5" name="Picture 4" descr="Screenshot 2026-09-09 1731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6360"/>
            <a:ext cx="3657600" cy="1816398"/>
          </a:xfrm>
          <a:prstGeom prst="rect">
            <a:avLst/>
          </a:prstGeom>
        </p:spPr>
      </p:pic>
      <p:pic>
        <p:nvPicPr>
          <p:cNvPr id="6" name="Picture 5" descr="Screenshot 2026-09-09 1734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375808"/>
            <a:ext cx="3657600" cy="1637502"/>
          </a:xfrm>
          <a:prstGeom prst="rect">
            <a:avLst/>
          </a:prstGeom>
        </p:spPr>
      </p:pic>
      <p:pic>
        <p:nvPicPr>
          <p:cNvPr id="7" name="Picture 6" descr="Screenshot 2026-09-09 1734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1379634"/>
            <a:ext cx="3657600" cy="1629851"/>
          </a:xfrm>
          <a:prstGeom prst="rect">
            <a:avLst/>
          </a:prstGeom>
        </p:spPr>
      </p:pic>
      <p:pic>
        <p:nvPicPr>
          <p:cNvPr id="8" name="Picture 7" descr="Screenshot 2026-09-09 1734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20" y="3822535"/>
            <a:ext cx="3657600" cy="1681808"/>
          </a:xfrm>
          <a:prstGeom prst="rect">
            <a:avLst/>
          </a:prstGeom>
        </p:spPr>
      </p:pic>
      <p:pic>
        <p:nvPicPr>
          <p:cNvPr id="9" name="Picture 8" descr="Screenshot 2026-09-09 17355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3846703"/>
            <a:ext cx="3657600" cy="1633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26B78"/>
                </a:solidFill>
              </a:defRPr>
            </a:pPr>
            <a:r>
              <a:t>P05 • University Digital Library Management System • CIA-3                            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</a:defRPr>
            </a:pPr>
            <a:r>
              <a:t>Implementation Evidence — Admin &amp; Staff</a:t>
            </a:r>
          </a:p>
        </p:txBody>
      </p:sp>
      <p:pic>
        <p:nvPicPr>
          <p:cNvPr id="5" name="Picture 4" descr="Screenshot 2026-09-09 1735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749" y="1143000"/>
            <a:ext cx="4768180" cy="2331720"/>
          </a:xfrm>
          <a:prstGeom prst="rect">
            <a:avLst/>
          </a:prstGeom>
        </p:spPr>
      </p:pic>
      <p:pic>
        <p:nvPicPr>
          <p:cNvPr id="6" name="Picture 5" descr="Screenshot 2026-09-09 1735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032" y="1143000"/>
            <a:ext cx="4988735" cy="2331720"/>
          </a:xfrm>
          <a:prstGeom prst="rect">
            <a:avLst/>
          </a:prstGeom>
        </p:spPr>
      </p:pic>
      <p:pic>
        <p:nvPicPr>
          <p:cNvPr id="7" name="Picture 6" descr="Screenshot 2026-09-09 1735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263" y="3794760"/>
            <a:ext cx="4937152" cy="2331720"/>
          </a:xfrm>
          <a:prstGeom prst="rect">
            <a:avLst/>
          </a:prstGeom>
        </p:spPr>
      </p:pic>
      <p:pic>
        <p:nvPicPr>
          <p:cNvPr id="8" name="Picture 7" descr="Screenshot 2026-09-09 1734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087" y="3794760"/>
            <a:ext cx="4942625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26B78"/>
                </a:solidFill>
              </a:defRPr>
            </a:pPr>
            <a:r>
              <a:t>P05 • University Digital Library Management System • CIA-3                            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77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</a:defRPr>
            </a:pPr>
            <a:r>
              <a:t>Future Scope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6B78"/>
                </a:solidFill>
              </a:defRPr>
            </a:pPr>
            <a:r>
              <a:t>Beyond the academic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Real payment gateway integration.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Email/SMS notifications and scheduled jobs.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Barcode/RFID issue and return.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Multi-branch inventory and advanced search.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Automated frontend testing and centralized logs.</a:t>
            </a:r>
          </a:p>
          <a:p>
            <a:pPr>
              <a:spcAft>
                <a:spcPts val="800"/>
              </a:spcAft>
              <a:defRPr sz="1500">
                <a:solidFill>
                  <a:srgbClr val="20252D"/>
                </a:solidFill>
              </a:defRPr>
            </a:pPr>
            <a:r>
              <a:t>• Production monitoring, token revocation and stronger backup/audit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234440"/>
            <a:ext cx="4572000" cy="150876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76872" y="1344168"/>
            <a:ext cx="4242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6872" y="1709928"/>
            <a:ext cx="4242816" cy="941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DLMS demonstrates a complete academic-library workflow with authentication, RBAC, MongoDB persistence, circulation, reservations, fines, inventory and reporting.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3063240"/>
            <a:ext cx="4572000" cy="150876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76872" y="3172968"/>
            <a:ext cx="4242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Key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3538728"/>
            <a:ext cx="4242816" cy="941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Backend enforcement matters because one operation can change multiple related states that must remain consistent.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4892040"/>
            <a:ext cx="4572000" cy="777240"/>
          </a:xfrm>
          <a:prstGeom prst="roundRect">
            <a:avLst/>
          </a:prstGeom>
          <a:solidFill>
            <a:srgbClr val="EEF3FA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76872" y="5001768"/>
            <a:ext cx="4242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13D"/>
                </a:solidFill>
              </a:defRPr>
            </a:pPr>
            <a:r>
              <a:t>Final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5367527"/>
            <a:ext cx="4242816" cy="210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52D"/>
                </a:solidFill>
              </a:defRPr>
            </a:pPr>
            <a:r>
              <a:t>More than a catalogue — a role-aware library management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26B78"/>
                </a:solidFill>
              </a:defRPr>
            </a:pPr>
            <a:r>
              <a:t>P05 • University Digital Library Management System • CIA-3                            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ED7FF"/>
                </a:solidFill>
              </a:defRPr>
            </a:pPr>
            <a:r>
              <a:t>University Digital Library Management System</a:t>
            </a:r>
            <a:br/>
            <a:r>
              <a:t>P05 • CIA-3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1505</Words>
  <Application>Microsoft Office PowerPoint</Application>
  <PresentationFormat>Widescreen</PresentationFormat>
  <Paragraphs>229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mehanath s</dc:creator>
  <cp:keywords/>
  <dc:description>generated using python-pptx</dc:description>
  <cp:lastModifiedBy>mehanath s</cp:lastModifiedBy>
  <cp:revision>1</cp:revision>
  <dcterms:created xsi:type="dcterms:W3CDTF">2013-01-27T09:14:16Z</dcterms:created>
  <dcterms:modified xsi:type="dcterms:W3CDTF">2026-09-10T08:35:39Z</dcterms:modified>
  <cp:category/>
</cp:coreProperties>
</file>